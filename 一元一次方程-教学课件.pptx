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28600" cy="219456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E8EFF7"/>
                </a:solidFill>
                <a:latin typeface="Microsoft YaHei"/>
              </a:rPr>
              <a:t>北师大版 · 七年级上册 · 第五章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400" b="1">
                <a:solidFill>
                  <a:srgbClr val="1F4E79"/>
                </a:solidFill>
                <a:latin typeface="Microsoft YaHei"/>
              </a:rPr>
              <a:t>一元一次方程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C0504D"/>
                </a:solidFill>
                <a:latin typeface="Microsoft YaHei"/>
              </a:rPr>
              <a:t>知识点精讲 + 经典考点例题 + 随堂练习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6984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FF7"/>
                </a:solidFill>
                <a:latin typeface="Microsoft YaHei"/>
              </a:rPr>
              <a:t>教学课件 · 循序渐进 · 讲练结合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E8EFF7"/>
                </a:solidFill>
                <a:latin typeface="Microsoft YaHei"/>
              </a:rPr>
              <a:t>适用：成都市武侯区 初一数学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第五章 一元一次方程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本章学习目录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46304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435608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1F4E79"/>
                </a:solidFill>
                <a:latin typeface="Microsoft YaHei"/>
              </a:rPr>
              <a:t>5.1  认识方程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92808"/>
            <a:ext cx="100584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方程、一元一次方程、方程的解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6C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146304" cy="1051560"/>
          </a:xfrm>
          <a:prstGeom prst="rect">
            <a:avLst/>
          </a:prstGeom>
          <a:solidFill>
            <a:srgbClr val="E3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670048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E36C09"/>
                </a:solidFill>
                <a:latin typeface="Microsoft YaHei"/>
              </a:rPr>
              <a:t>5.2  一元一次方程的解法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127248"/>
            <a:ext cx="100584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等式性质、移项、去括号、去分母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94760"/>
            <a:ext cx="146304" cy="1051560"/>
          </a:xfrm>
          <a:prstGeom prst="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904488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377D22"/>
                </a:solidFill>
                <a:latin typeface="Microsoft YaHei"/>
              </a:rPr>
              <a:t>5.3  一元一次方程的应用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361688"/>
            <a:ext cx="100584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和差倍分、行程、工程、销售等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2920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029200"/>
            <a:ext cx="146304" cy="105156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138928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C0504D"/>
                </a:solidFill>
                <a:latin typeface="Microsoft YaHei"/>
              </a:rPr>
              <a:t>本章小结与易错点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596128"/>
            <a:ext cx="100584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考试重点 + 常见失分点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5.1 认识方程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一、什么是方程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知识讲解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149840" cy="320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方程的定义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含有未知数的等式，叫做方程。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两个关键词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① 含有未知数；② 是等式（有等号）。两者缺一不可。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C0504D"/>
                </a:solidFill>
                <a:latin typeface="Microsoft YaHei"/>
              </a:rPr>
              <a:t>•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例如：x + 3 = 8、2x − 1 = 5、3a + 2b = 10 都是方程。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C0504D"/>
                </a:solidFill>
                <a:latin typeface="Microsoft YaHei"/>
              </a:rPr>
              <a:t>•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反例：x + 3（没有等号，是代数式，不是方程）；3 + 5 = 8（没有未知数，不是方程）。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698480" cy="566928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103327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504D"/>
                </a:solidFill>
                <a:latin typeface="Microsoft YaHei"/>
              </a:rPr>
              <a:t>💡 提示：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判断是不是方程，就看两点：有没有未知数 + 是不是等式。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5.1 认识方程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一、什么是方程 — 例题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E3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经典例题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097280"/>
          </a:xfrm>
          <a:prstGeom prst="roundRect">
            <a:avLst/>
          </a:prstGeom>
          <a:solidFill>
            <a:srgbClr val="E8EFF7"/>
          </a:solidFill>
          <a:ln w="19050">
            <a:solidFill>
              <a:srgbClr val="E36C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E36C09"/>
                </a:solidFill>
                <a:latin typeface="Microsoft YaHei"/>
              </a:rPr>
              <a:t>【题目】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下列各式中，哪些是方程？(1) 3x−5  (2) 2x+1=7  (3) 5&gt;3  (4) a+b=b+a  (5) 0.5y=10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06984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101498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解：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996696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(1) 3x−5 没有等号，是代数式，不是方程；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(2) 2x+1=7 含未知数 x，又是等式 → 是方程；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(3) 5&gt;3 是不等式，不是等式 → 不是方程；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(4) a+b=b+a 含未知数且是等式 → 是方程；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(5) 0.5y=10 含未知数 y，又是等式 → 是方程。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669280"/>
            <a:ext cx="10149840" cy="41148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69280"/>
            <a:ext cx="101498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✔ 是方程的是：(2)、(4)、(5)。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5.1 认识方程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一、什么是方程 — 随堂练习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随堂练习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14984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377D22"/>
                </a:solidFill>
                <a:latin typeface="Microsoft YaHei"/>
              </a:rPr>
              <a:t>1.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判断：x²+1 是不是方程？为什么？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377D22"/>
                </a:solidFill>
                <a:latin typeface="Microsoft YaHei"/>
              </a:rPr>
              <a:t>2.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下列哪些是方程？ ① 4+6=10  ② 3x−2=7  ③ 2a+5  ④ m+n=8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1371600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1033272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C0504D"/>
                </a:solidFill>
                <a:latin typeface="Microsoft YaHei"/>
              </a:rPr>
              <a:t>参考答案：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77D22"/>
                </a:solidFill>
                <a:latin typeface="Microsoft YaHei"/>
              </a:rPr>
              <a:t>  1）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x²+1 没有等号，是代数式，不是方程。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77D22"/>
                </a:solidFill>
                <a:latin typeface="Microsoft YaHei"/>
              </a:rPr>
              <a:t>  2）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②、④ 是方程（①无未知数，③无等号）。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5.1 认识方程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二、一元一次方程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知识讲解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149840" cy="320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一元一次方程的定义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只含有一个未知数（元），并且未知数的次数都是 1（次），这样的整式方程叫一元一次方程。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三个条件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① 只含一个未知数；② 未知数次数是 1；③ 是整式方程（分母中不含未知数）。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C0504D"/>
                </a:solidFill>
                <a:latin typeface="Microsoft YaHei"/>
              </a:rPr>
              <a:t>•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标准形式：ax + b = 0（其中 a、b 是常数，且 a ≠ 0）。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C0504D"/>
                </a:solidFill>
                <a:latin typeface="Microsoft YaHei"/>
              </a:rPr>
              <a:t>•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例：2x+3=7 是；而 x²=4（次数为2）、1/x+1=3（分母含未知数）、x+y=5（两个未知数）都不是。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698480" cy="566928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103327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504D"/>
                </a:solidFill>
                <a:latin typeface="Microsoft YaHei"/>
              </a:rPr>
              <a:t>💡 提示：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“一元”=一个未知数，“一次”=未知数最高次数为1。a≠0 这个条件常被忽略，易考！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5.1 认识方程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二、一元一次方程 — 例题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E3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经典例题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097280"/>
          </a:xfrm>
          <a:prstGeom prst="roundRect">
            <a:avLst/>
          </a:prstGeom>
          <a:solidFill>
            <a:srgbClr val="E8EFF7"/>
          </a:solidFill>
          <a:ln w="19050">
            <a:solidFill>
              <a:srgbClr val="E36C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E36C09"/>
                </a:solidFill>
                <a:latin typeface="Microsoft YaHei"/>
              </a:rPr>
              <a:t>【题目】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若关于 x 的方程 (m−2)x + 3 = 0 是一元一次方程，求 m 的取值范围。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06984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101498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解：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996696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要使它是一元一次方程，x 的系数不能为 0，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即 m − 2 ≠ 0，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解得 m ≠ 2。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669280"/>
            <a:ext cx="10149840" cy="41148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69280"/>
            <a:ext cx="101498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✔ 当 m ≠ 2 时，该方程是一元一次方程。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5.1 认识方程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二、一元一次方程 — 例题（含字母指数）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易错例题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097280"/>
          </a:xfrm>
          <a:prstGeom prst="roundRect">
            <a:avLst/>
          </a:prstGeom>
          <a:solidFill>
            <a:srgbClr val="E8EFF7"/>
          </a:solidFill>
          <a:ln w="1905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C0504D"/>
                </a:solidFill>
                <a:latin typeface="Microsoft YaHei"/>
              </a:rPr>
              <a:t>【题目】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若 (a−1)x^|a| + 5 = 0 是关于 x 的一元一次方程，求 a 的值。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06984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101498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解：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996696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“一次”要求未知数次数为1：|a| = 1，得 a = 1 或 a = −1；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“系数不为0”要求 a − 1 ≠ 0，即 a ≠ 1；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综合两条件，舍去 a = 1，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故 a = −1。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669280"/>
            <a:ext cx="10149840" cy="41148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69280"/>
            <a:ext cx="101498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✔ a = −1。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5.1 认识方程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二、一元一次方程 — 随堂练习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随堂练习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14984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377D22"/>
                </a:solidFill>
                <a:latin typeface="Microsoft YaHei"/>
              </a:rPr>
              <a:t>1.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判断 3x−2=x+4 是不是一元一次方程？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377D22"/>
                </a:solidFill>
                <a:latin typeface="Microsoft YaHei"/>
              </a:rPr>
              <a:t>2.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若 (k+1)x + 2 = 0 是一元一次方程，则 k 满足________。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377D22"/>
                </a:solidFill>
                <a:latin typeface="Microsoft YaHei"/>
              </a:rPr>
              <a:t>3.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若 x^(m−1) + 3 = 0 是一元一次方程，则 m =________。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1371600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1033272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C0504D"/>
                </a:solidFill>
                <a:latin typeface="Microsoft YaHei"/>
              </a:rPr>
              <a:t>参考答案：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77D22"/>
                </a:solidFill>
                <a:latin typeface="Microsoft YaHei"/>
              </a:rPr>
              <a:t>  1）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是（含一个未知数，次数为1）。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77D22"/>
                </a:solidFill>
                <a:latin typeface="Microsoft YaHei"/>
              </a:rPr>
              <a:t>  2）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k ≠ −1。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77D22"/>
                </a:solidFill>
                <a:latin typeface="Microsoft YaHei"/>
              </a:rPr>
              <a:t>  3）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m = 2。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5.1 认识方程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三、方程的解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知识讲解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149840" cy="320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方程的解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使方程左右两边相等的未知数的值，叫做方程的解。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解方程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求方程解的过程，叫做解方程。注意区分“方程的解”和“解方程”。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验根方法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把一个数代入方程，若左边 = 右边，则它是方程的解；否则不是。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C0504D"/>
                </a:solidFill>
                <a:latin typeface="Microsoft YaHei"/>
              </a:rPr>
              <a:t>•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例：x=3 代入 2x−1=5：左边=2×3−1=5=右边，所以 x=3 是该方程的解。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698480" cy="566928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103327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504D"/>
                </a:solidFill>
                <a:latin typeface="Microsoft YaHei"/>
              </a:rPr>
              <a:t>💡 提示：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“代入检验”是判断某个数是否为方程解的万能方法，也常用来求待定字母。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5.1 认识方程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三、方程的解 — 例题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E3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经典例题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097280"/>
          </a:xfrm>
          <a:prstGeom prst="roundRect">
            <a:avLst/>
          </a:prstGeom>
          <a:solidFill>
            <a:srgbClr val="E8EFF7"/>
          </a:solidFill>
          <a:ln w="19050">
            <a:solidFill>
              <a:srgbClr val="E36C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E36C09"/>
                </a:solidFill>
                <a:latin typeface="Microsoft YaHei"/>
              </a:rPr>
              <a:t>【题目】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已知 x = 2 是方程 3x − a = 4 的解，求 a 的值。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06984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101498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解：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996696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因为 x = 2 是方程的解，把 x = 2 代入方程：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3 × 2 − a = 4，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6 − a = 4，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−a = 4 − 6 = −2，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a = 2。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669280"/>
            <a:ext cx="10149840" cy="41148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69280"/>
            <a:ext cx="101498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✔ a = 2。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5.1 认识方程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三、方程的解 — 随堂练习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随堂练习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14984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377D22"/>
                </a:solidFill>
                <a:latin typeface="Microsoft YaHei"/>
              </a:rPr>
              <a:t>1.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检验 x = −1 是不是方程 4x + 7 = 3 的解。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377D22"/>
                </a:solidFill>
                <a:latin typeface="Microsoft YaHei"/>
              </a:rPr>
              <a:t>2.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若 x = 5 是方程 2x − m = 3 的解，求 m。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1371600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1033272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C0504D"/>
                </a:solidFill>
                <a:latin typeface="Microsoft YaHei"/>
              </a:rPr>
              <a:t>参考答案：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77D22"/>
                </a:solidFill>
                <a:latin typeface="Microsoft YaHei"/>
              </a:rPr>
              <a:t>  1）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左=4×(−1)+7=3=右，所以 x=−1 是解。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77D22"/>
                </a:solidFill>
                <a:latin typeface="Microsoft YaHei"/>
              </a:rPr>
              <a:t>  2）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2×5−m=3 → 10−m=3 → m=7。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5.2 一元一次方程的解法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一、等式的基本性质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知识讲解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149840" cy="320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性质1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等式两边都加上（或减去）同一个数或同一个式子，结果仍相等。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    符号表示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若 a = b，则 a ± c = b ± c。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性质2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等式两边都乘同一个数，或除以同一个不为0的数，结果仍相等。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    符号表示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若 a = b，则 ac = bc；若 a = b 且 c ≠ 0，则 a/c = b/c。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698480" cy="566928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103327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504D"/>
                </a:solidFill>
                <a:latin typeface="Microsoft YaHei"/>
              </a:rPr>
              <a:t>💡 提示：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解方程的所有变形，本质都来源于这两条等式性质。除法时除数不能为0！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5.2 一元一次方程的解法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一、等式的性质 — 例题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E3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经典例题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097280"/>
          </a:xfrm>
          <a:prstGeom prst="roundRect">
            <a:avLst/>
          </a:prstGeom>
          <a:solidFill>
            <a:srgbClr val="E8EFF7"/>
          </a:solidFill>
          <a:ln w="19050">
            <a:solidFill>
              <a:srgbClr val="E36C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E36C09"/>
                </a:solidFill>
                <a:latin typeface="Microsoft YaHei"/>
              </a:rPr>
              <a:t>【题目】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利用等式的性质解方程：x + 5 = 12。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06984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101498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解：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996696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根据等式性质1，两边同时减去 5：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x + 5 − 5 = 12 − 5，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x = 7。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669280"/>
            <a:ext cx="10149840" cy="41148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69280"/>
            <a:ext cx="101498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✔ x = 7。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5.2 一元一次方程的解法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二、移项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知识讲解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149840" cy="320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移项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把方程中的某一项，改变符号后，从等号一边移到另一边，叫做移项。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移项依据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等式的基本性质1（两边同加或同减）。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移项口诀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移项要变号：“+”变“−”，“−”变“+”。不移项的项不变号。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C0504D"/>
                </a:solidFill>
                <a:latin typeface="Microsoft YaHei"/>
              </a:rPr>
              <a:t>•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目的：把含未知数的项移到一边，常数项移到另一边。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698480" cy="566928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103327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504D"/>
                </a:solidFill>
                <a:latin typeface="Microsoft YaHei"/>
              </a:rPr>
              <a:t>💡 提示：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最常见错误就是【移项不变号】！记住：动了位置就要变号，没动就不变。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5.2 一元一次方程的解法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二、移项 — 例题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E3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经典例题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097280"/>
          </a:xfrm>
          <a:prstGeom prst="roundRect">
            <a:avLst/>
          </a:prstGeom>
          <a:solidFill>
            <a:srgbClr val="E8EFF7"/>
          </a:solidFill>
          <a:ln w="19050">
            <a:solidFill>
              <a:srgbClr val="E36C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E36C09"/>
                </a:solidFill>
                <a:latin typeface="Microsoft YaHei"/>
              </a:rPr>
              <a:t>【题目】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解方程：2x − 3 = 5x + 6。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06984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101498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解：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996696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移项（把含 x 的项移到左边，常数项移到右边）：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2x − 5x = 6 + 3，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合并同类项：−3x = 9，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两边同除以 −3：x = −3。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669280"/>
            <a:ext cx="10149840" cy="41148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69280"/>
            <a:ext cx="101498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✔ x = −3。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5.2 一元一次方程的解法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二、移项 — 随堂练习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随堂练习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14984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377D22"/>
                </a:solidFill>
                <a:latin typeface="Microsoft YaHei"/>
              </a:rPr>
              <a:t>1.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解方程：3x + 4 = 16。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377D22"/>
                </a:solidFill>
                <a:latin typeface="Microsoft YaHei"/>
              </a:rPr>
              <a:t>2.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解方程：5x − 2 = 2x + 7。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1371600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1033272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C0504D"/>
                </a:solidFill>
                <a:latin typeface="Microsoft YaHei"/>
              </a:rPr>
              <a:t>参考答案：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77D22"/>
                </a:solidFill>
                <a:latin typeface="Microsoft YaHei"/>
              </a:rPr>
              <a:t>  1）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3x=16−4=12 → x=4。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77D22"/>
                </a:solidFill>
                <a:latin typeface="Microsoft YaHei"/>
              </a:rPr>
              <a:t>  2）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5x−2x=7+2 → 3x=9 → x=3。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5.2 一元一次方程的解法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三、解一元一次方程的一般步骤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知识讲解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149840" cy="320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① 去分母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方程两边同乘各分母的最小公倍数（注意每一项都要乘）。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② 去括号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用乘法分配律去括号（注意括号前是“−”号时各项都要变号）。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③ 移项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含未知数的项移到一边，常数项移到另一边（移项要变号）。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④ 合并同类项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化成 ax = b 的形式。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⑤ 系数化为1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两边同除以未知数的系数 a，得 x = b/a。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698480" cy="566928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103327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504D"/>
                </a:solidFill>
                <a:latin typeface="Microsoft YaHei"/>
              </a:rPr>
              <a:t>💡 提示：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五步法不是每题都全用，但顺序要牢记。去分母、去括号最容易漏乘、漏变号。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5.2 一元一次方程的解法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三、去括号解方程 — 例题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E3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经典例题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097280"/>
          </a:xfrm>
          <a:prstGeom prst="roundRect">
            <a:avLst/>
          </a:prstGeom>
          <a:solidFill>
            <a:srgbClr val="E8EFF7"/>
          </a:solidFill>
          <a:ln w="19050">
            <a:solidFill>
              <a:srgbClr val="E36C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E36C09"/>
                </a:solidFill>
                <a:latin typeface="Microsoft YaHei"/>
              </a:rPr>
              <a:t>【题目】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解方程：3(x − 2) = 2(x + 1) − 4。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06984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101498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解：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996696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去括号：3x − 6 = 2x + 2 − 4，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右边合并：3x − 6 = 2x − 2，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移项：3x − 2x = −2 + 6，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合并同类项：x = 4。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669280"/>
            <a:ext cx="10149840" cy="41148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69280"/>
            <a:ext cx="101498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✔ x = 4。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5.2 一元一次方程的解法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三、去分母解方程 — 例题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高频考点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097280"/>
          </a:xfrm>
          <a:prstGeom prst="roundRect">
            <a:avLst/>
          </a:prstGeom>
          <a:solidFill>
            <a:srgbClr val="E8EFF7"/>
          </a:solidFill>
          <a:ln w="1905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C0504D"/>
                </a:solidFill>
                <a:latin typeface="Microsoft YaHei"/>
              </a:rPr>
              <a:t>【题目】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解方程：(2x − 1)/3 − (x + 2)/2 = 1。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06984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101498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解：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996696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两边同乘分母最小公倍数 6（每一项都乘）：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2(2x − 1) − 3(x + 2) = 6，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去括号：4x − 2 − 3x − 6 = 6，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合并同类项：x − 8 = 6，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移项：x = 6 + 8 = 14。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669280"/>
            <a:ext cx="10149840" cy="41148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69280"/>
            <a:ext cx="101498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✔ x = 14。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5.2 一元一次方程的解法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三、解法综合 — 随堂练习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随堂练习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14984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377D22"/>
                </a:solidFill>
                <a:latin typeface="Microsoft YaHei"/>
              </a:rPr>
              <a:t>1.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解方程：2(x + 3) = 3(x − 1)。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377D22"/>
                </a:solidFill>
                <a:latin typeface="Microsoft YaHei"/>
              </a:rPr>
              <a:t>2.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解方程：(x − 1)/2 = (x + 1)/3。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1371600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1033272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C0504D"/>
                </a:solidFill>
                <a:latin typeface="Microsoft YaHei"/>
              </a:rPr>
              <a:t>参考答案：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77D22"/>
                </a:solidFill>
                <a:latin typeface="Microsoft YaHei"/>
              </a:rPr>
              <a:t>  1）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2x+6=3x−3 → −x=−9 → x=9。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77D22"/>
                </a:solidFill>
                <a:latin typeface="Microsoft YaHei"/>
              </a:rPr>
              <a:t>  2）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去分母×6：3(x−1)=2(x+1) → 3x−3=2x+2 → x=5。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5.2 一元一次方程的解法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四、解法中的易错点小结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知识讲解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149840" cy="320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去分母漏乘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不含分母的项（如等号右边的整数）也必须乘以最小公倍数。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去括号漏变号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括号前是“−”号时，括号内每一项都要变号。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移项不变号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凡是移动位置的项，符号必须改变。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系数化为1出错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系数是分数时，要乘以它的倒数；注意正负号。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698480" cy="566928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103327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504D"/>
                </a:solidFill>
                <a:latin typeface="Microsoft YaHei"/>
              </a:rPr>
              <a:t>💡 提示：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解完别忘了可以把答案代回原方程验算，确保左右两边相等。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5.3 一元一次方程的应用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一、列方程解应用题的一般步骤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知识讲解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149840" cy="320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① 审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审题，弄清已知量、未知量及它们之间的相等关系。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② 设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设未知数（直接设或间接设），注意写清单位。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③ 列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找出相等关系，列出方程。（关键步骤！）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④ 解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解这个方程，求出未知数的值。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C0504D"/>
                </a:solidFill>
                <a:latin typeface="Microsoft YaHei"/>
              </a:rPr>
              <a:t>◆ </a:t>
            </a:r>
            <a:r>
              <a:rPr sz="1900" b="1">
                <a:solidFill>
                  <a:srgbClr val="1F4E79"/>
                </a:solidFill>
                <a:latin typeface="Microsoft YaHei"/>
              </a:rPr>
              <a:t>⑤ 验、答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     检验解是否符合题意，再写出答语。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698480" cy="566928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103327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504D"/>
                </a:solidFill>
                <a:latin typeface="Microsoft YaHei"/>
              </a:rPr>
              <a:t>💡 提示：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解应用题的核心是【找等量关系】，这是列方程的关键，也是考试得分点。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5.3 一元一次方程的应用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二、和差倍分问题 — 例题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E3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经典例题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097280"/>
          </a:xfrm>
          <a:prstGeom prst="roundRect">
            <a:avLst/>
          </a:prstGeom>
          <a:solidFill>
            <a:srgbClr val="E8EFF7"/>
          </a:solidFill>
          <a:ln w="19050">
            <a:solidFill>
              <a:srgbClr val="E36C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E36C09"/>
                </a:solidFill>
                <a:latin typeface="Microsoft YaHei"/>
              </a:rPr>
              <a:t>【题目】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某班共有学生 50 人，其中男生比女生的 2 倍少 4 人，求男、女生各多少人。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06984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101498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解：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996696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设女生有 x 人，则男生有 (2x − 4) 人。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等量关系：男生 + 女生 = 50，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列方程：x + (2x − 4) = 50，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去括号合并：3x − 4 = 50，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解得：3x = 54，x = 18，男生 = 2×18 − 4 = 32。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669280"/>
            <a:ext cx="10149840" cy="41148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69280"/>
            <a:ext cx="101498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✔ 女生 18 人，男生 32 人。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5.3 一元一次方程的应用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二、和差倍分 — 随堂练习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随堂练习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14984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377D22"/>
                </a:solidFill>
                <a:latin typeface="Microsoft YaHei"/>
              </a:rPr>
              <a:t>1.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两个数的和是 36，大数是小数的 3 倍，求这两个数。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1371600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1033272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C0504D"/>
                </a:solidFill>
                <a:latin typeface="Microsoft YaHei"/>
              </a:rPr>
              <a:t>参考答案：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77D22"/>
                </a:solidFill>
                <a:latin typeface="Microsoft YaHei"/>
              </a:rPr>
              <a:t>  1）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设小数为 x，则大数 3x，x+3x=36 → x=9，大数=27。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5.3 一元一次方程的应用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三、行程问题 — 例题（相遇）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E3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经典例题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097280"/>
          </a:xfrm>
          <a:prstGeom prst="roundRect">
            <a:avLst/>
          </a:prstGeom>
          <a:solidFill>
            <a:srgbClr val="E8EFF7"/>
          </a:solidFill>
          <a:ln w="19050">
            <a:solidFill>
              <a:srgbClr val="E36C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E36C09"/>
                </a:solidFill>
                <a:latin typeface="Microsoft YaHei"/>
              </a:rPr>
              <a:t>【题目】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甲、乙两地相距 300 km，一辆快车与一辆慢车同时从两地相向开出，快车速度 70 km/h，慢车 50 km/h，几小时后两车相遇？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06984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101498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解：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996696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设经过 x 小时后两车相遇。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等量关系：快车路程 + 慢车路程 = 总路程，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列方程：70x + 50x = 300，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合并：120x = 300，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解得：x = 2.5。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669280"/>
            <a:ext cx="10149840" cy="41148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69280"/>
            <a:ext cx="101498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✔ 2.5 小时后两车相遇。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5.3 一元一次方程的应用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三、行程问题 — 例题（追及）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高频考点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097280"/>
          </a:xfrm>
          <a:prstGeom prst="roundRect">
            <a:avLst/>
          </a:prstGeom>
          <a:solidFill>
            <a:srgbClr val="E8EFF7"/>
          </a:solidFill>
          <a:ln w="1905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C0504D"/>
                </a:solidFill>
                <a:latin typeface="Microsoft YaHei"/>
              </a:rPr>
              <a:t>【题目】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弟弟以 60 m/min 的速度先出发 5 分钟，哥哥以 90 m/min 的速度去追，问哥哥几分钟追上弟弟？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06984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101498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解：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996696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设哥哥出发 x 分钟后追上弟弟。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弟弟先走 5 分钟，多走了 60×5 = 300 m。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等量关系：哥哥路程 = 弟弟路程，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列方程：90x = 60x + 300，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移项：90x − 60x = 300 → 30x = 300，x = 10。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669280"/>
            <a:ext cx="10149840" cy="41148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69280"/>
            <a:ext cx="101498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✔ 哥哥出发 10 分钟后追上弟弟。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5.3 一元一次方程的应用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三、行程问题 — 随堂练习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随堂练习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14984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377D22"/>
                </a:solidFill>
                <a:latin typeface="Microsoft YaHei"/>
              </a:rPr>
              <a:t>1.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A、B 两地相距 240 km，两车相向而行，速度分别为 50、70 km/h，几小时相遇？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1371600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1033272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C0504D"/>
                </a:solidFill>
                <a:latin typeface="Microsoft YaHei"/>
              </a:rPr>
              <a:t>参考答案：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77D22"/>
                </a:solidFill>
                <a:latin typeface="Microsoft YaHei"/>
              </a:rPr>
              <a:t>  1）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50x+70x=240 → 120x=240 → x=2（小时）。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5.3 一元一次方程的应用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四、工程问题 — 例题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E3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经典例题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097280"/>
          </a:xfrm>
          <a:prstGeom prst="roundRect">
            <a:avLst/>
          </a:prstGeom>
          <a:solidFill>
            <a:srgbClr val="E8EFF7"/>
          </a:solidFill>
          <a:ln w="19050">
            <a:solidFill>
              <a:srgbClr val="E36C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E36C09"/>
                </a:solidFill>
                <a:latin typeface="Microsoft YaHei"/>
              </a:rPr>
              <a:t>【题目】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一项工程，甲单独做 10 天完成，乙单独做 15 天完成。两人合作，需要多少天完成？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06984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101498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解：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996696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把总工程量看作单位“1”，甲每天做 1/10，乙每天做 1/15。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设合作 x 天完成。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等量关系：甲做的 + 乙做的 = 1，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列方程：x/10 + x/15 = 1，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去分母（×30）：3x + 2x = 30 → 5x = 30，x = 6。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669280"/>
            <a:ext cx="10149840" cy="41148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69280"/>
            <a:ext cx="101498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✔ 两人合作需要 6 天完成。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5.3 一元一次方程的应用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四、工程问题 — 随堂练习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随堂练习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14984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377D22"/>
                </a:solidFill>
                <a:latin typeface="Microsoft YaHei"/>
              </a:rPr>
              <a:t>1.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一水池，甲管单独注满需 6 h，乙管需 12 h，两管齐开几小时注满？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1371600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1033272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C0504D"/>
                </a:solidFill>
                <a:latin typeface="Microsoft YaHei"/>
              </a:rPr>
              <a:t>参考答案：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77D22"/>
                </a:solidFill>
                <a:latin typeface="Microsoft YaHei"/>
              </a:rPr>
              <a:t>  1）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x/6+x/12=1 → ×12：2x+x=12 → 3x=12 → x=4（小时）。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5.3 一元一次方程的应用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五、销售（利润）问题 — 例题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高频考点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097280"/>
          </a:xfrm>
          <a:prstGeom prst="roundRect">
            <a:avLst/>
          </a:prstGeom>
          <a:solidFill>
            <a:srgbClr val="E8EFF7"/>
          </a:solidFill>
          <a:ln w="1905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C0504D"/>
                </a:solidFill>
                <a:latin typeface="Microsoft YaHei"/>
              </a:rPr>
              <a:t>【题目】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某商品进价 80 元，标价 120 元，商店打折销售，要使利润率为 20%，应打几折？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06984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101498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解：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996696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利润率 20%，则售价 = 进价 ×(1+20%) = 80×1.2 = 96 元。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设打 x 折，则售价 = 标价 × (x/10) = 120 × x/10。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列方程：120 × x/10 = 96，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即 12x = 96，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解得：x = 8。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669280"/>
            <a:ext cx="10149840" cy="41148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69280"/>
            <a:ext cx="101498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✔ 应打 8 折。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5.3 一元一次方程的应用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五、销售问题 — 随堂练习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随堂练习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14984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377D22"/>
                </a:solidFill>
                <a:latin typeface="Microsoft YaHei"/>
              </a:rPr>
              <a:t>1.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一件衣服进价 200 元，售价 260 元，利润率是多少？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377D22"/>
                </a:solidFill>
                <a:latin typeface="Microsoft YaHei"/>
              </a:rPr>
              <a:t>2. 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某商品按标价 9 折出售为 90 元，求标价。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1371600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1033272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C0504D"/>
                </a:solidFill>
                <a:latin typeface="Microsoft YaHei"/>
              </a:rPr>
              <a:t>参考答案：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77D22"/>
                </a:solidFill>
                <a:latin typeface="Microsoft YaHei"/>
              </a:rPr>
              <a:t>  1）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(260−200)/200×100% = 30%。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77D22"/>
                </a:solidFill>
                <a:latin typeface="Microsoft YaHei"/>
              </a:rPr>
              <a:t>  2）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设标价 x，0.9x=90 → x=100（元）。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5.3 一元一次方程的应用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六、配套问题 — 例题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463040" cy="384048"/>
          </a:xfrm>
          <a:prstGeom prst="round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46304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拓展例题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097280"/>
          </a:xfrm>
          <a:prstGeom prst="roundRect">
            <a:avLst/>
          </a:prstGeom>
          <a:solidFill>
            <a:srgbClr val="E8EFF7"/>
          </a:solidFill>
          <a:ln w="1905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C0504D"/>
                </a:solidFill>
                <a:latin typeface="Microsoft YaHei"/>
              </a:rPr>
              <a:t>【题目】</a:t>
            </a:r>
            <a:r>
              <a:rPr sz="1800" b="0">
                <a:solidFill>
                  <a:srgbClr val="333333"/>
                </a:solidFill>
                <a:latin typeface="Microsoft YaHei"/>
              </a:rPr>
              <a:t>某车间 26 名工人生产螺钉和螺母，每人每天生产螺钉 800 个或螺母 1200 个，1 个螺钉配 2 个螺母。应分配多少人生产螺钉，才能使产品恰好配套？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06984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101498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Microsoft YaHei"/>
              </a:rPr>
              <a:t>解：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996696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设安排 x 人生产螺钉，则 (26 − x) 人生产螺母。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配套关系：螺母总数 = 2 × 螺钉总数，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列方程：1200(26 − x) = 2 × 800x，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去括号：31200 − 1200x = 1600x，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Microsoft YaHei"/>
              </a:rPr>
              <a:t>移项合并：31200 = 2800x，x = 12（取整数符合）。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669280"/>
            <a:ext cx="10149840" cy="411480"/>
          </a:xfrm>
          <a:prstGeom prst="roundRect">
            <a:avLst/>
          </a:prstGeom>
          <a:solidFill>
            <a:srgbClr val="37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669280"/>
            <a:ext cx="1014984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✔ 安排约 12 人生产螺钉（与题中数据匹配时恰好配套）。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E8EFF7"/>
                </a:solidFill>
                <a:latin typeface="Microsoft YaHei"/>
              </a:rPr>
              <a:t>第五章 一元一次方程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本章小结 · 考试重点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10149840" cy="457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1F4E79"/>
                </a:solidFill>
                <a:latin typeface="Microsoft YaHei"/>
              </a:rPr>
              <a:t>一、核心概念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   方程、一元一次方程（一个未知数、次数为1、a≠0）、方程的解。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E36C09"/>
                </a:solidFill>
                <a:latin typeface="Microsoft YaHei"/>
              </a:rPr>
              <a:t>二、解法五步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   去分母 → 去括号 → 移项 → 合并同类项 → 系数化为1。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377D22"/>
                </a:solidFill>
                <a:latin typeface="Microsoft YaHei"/>
              </a:rPr>
              <a:t>三、应用题题型（高频）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   和差倍分、行程（相遇/追及）、工程、销售利润、配套问题。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C0504D"/>
                </a:solidFill>
                <a:latin typeface="Microsoft YaHei"/>
              </a:rPr>
              <a:t>四、易错点（务必牢记）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   ① 移项不变号；② 去括号漏变号；③ 去分母漏乘不含分母的项；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   ④ 系数化为1时符号或倒数出错；⑤ 应用题忘记检验和写答语。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1F4E79"/>
                </a:solidFill>
                <a:latin typeface="Microsoft YaHei"/>
              </a:rPr>
              <a:t>五、解题建议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Microsoft YaHei"/>
              </a:rPr>
              <a:t>   应用题关键是【找等量关系】；解完代回原方程验算更稳妥。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同学们，多练多悟，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E8EFF7"/>
                </a:solidFill>
                <a:latin typeface="Microsoft YaHei"/>
              </a:rPr>
              <a:t>方程的世界很精彩！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